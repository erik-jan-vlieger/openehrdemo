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8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E8830C"/>
                </a:solidFill>
              </a:defRPr>
            </a:pPr>
            <a:r>
              <a:t>SENSIRE DIGITALE INNOVATIE · ARCHITECTUURBOARD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openEHR Ecosysteem &amp; Runtime Architectuur</a:t>
            </a:r>
          </a:p>
          <a:p>
            <a:pPr>
              <a:spcAft>
                <a:spcPts val="3000"/>
              </a:spcAft>
              <a:defRPr sz="1700">
                <a:solidFill>
                  <a:srgbClr val="D2E1F5"/>
                </a:solidFill>
              </a:defRPr>
            </a:pPr>
            <a:r>
              <a:t>Semantische Fabriek, Contract-First Decoupling en Runtime Roadmap naar EHRbase CDR</a:t>
            </a:r>
          </a:p>
          <a:p>
            <a:pPr>
              <a:defRPr sz="1200">
                <a:solidFill>
                  <a:srgbClr val="A0B9D7"/>
                </a:solidFill>
              </a:defRPr>
            </a:pPr>
            <a:r>
              <a:t>Auteur: Digitale Innovatie &amp; openEHR Werkgroep  |  Status: Definitief Architectuurvoorstel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830C"/>
                </a:solidFill>
              </a:defRPr>
            </a:pPr>
            <a:r>
              <a:t>SENSIRE OPEN-EHR ARCHITECTUUR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466"/>
                </a:solidFill>
              </a:defRPr>
            </a:pPr>
            <a:r>
              <a:t>Executive Summary: Drie Pijlers voor een Duurzaam Gezondheidsplatform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8830C"/>
          </a:solidFill>
          <a:ln>
            <a:solidFill>
              <a:srgbClr val="E88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23466"/>
                </a:solidFill>
              </a:defRPr>
            </a:pPr>
            <a:r>
              <a:t>1. Data &amp; App Scheiding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Klinische gegevens worden opgeslagen in een leveranciersonafhankelijk Clinical Data Repository (openEHR CDR). Geen vendor lock-in in applicatiesilo's.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23466"/>
                </a:solidFill>
              </a:defRPr>
            </a:pPr>
            <a:r>
              <a:t>2. Contract-First &amp; Decoupled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Semantiek (archetypes, OPT 1.4 XML) wordt autonoom gecompileerd. Applicaties consumeren zuivere, snelle JSON-contracten zonder runtime Java-ballast.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23466"/>
                </a:solidFill>
              </a:defRPr>
            </a:pPr>
            <a:r>
              <a:t>3. Zero-Burden voor de Zorg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Zowel wijkverpleegkundigen als zorgpad-redacteuren behouden hun vertrouwde functionele interface. De openEHR-transformatie verloopt 100% automatisch.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830C"/>
                </a:solidFill>
              </a:defRPr>
            </a:pPr>
            <a:r>
              <a:t>SENSIRE OPEN-EHR ARCHITECTUUR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466"/>
                </a:solidFill>
              </a:defRPr>
            </a:pPr>
            <a:r>
              <a:t>Het 3-Lagen Ecosysteem: Scheiding van Inhoud, Semantiek &amp; Presentatie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8830C"/>
          </a:solidFill>
          <a:ln>
            <a:solidFill>
              <a:srgbClr val="E88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3466"/>
                </a:solidFill>
              </a:defRPr>
            </a:pPr>
            <a:r>
              <a:t>LAAG 1: AUTEURS &amp; KLINISCHE BRONNEN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SensireSpecieleBeslisOndersteuning (164 zorgpaden, ReAble flows, actieve dagelijkse redactie)</a:t>
            </a:r>
            <a:br/>
            <a:r>
              <a:t>• Sensii Wijkverpleegkundig EPD (58 surveys, Omaha-systematiek, SFP-beslismotor)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EEF4FF"/>
          </a:solidFill>
          <a:ln>
            <a:solidFill>
              <a:srgbClr val="E88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3466"/>
                </a:solidFill>
              </a:defRPr>
            </a:pPr>
            <a:r>
              <a:t>LAAG 2: DE SEMANTISCHE FABRIEK (OpenEHRDemo)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730+ CKM &amp; 7 Custom Nederlandse Archetypes (Gordon, GFI, Omaha, Regietrede, VAG)</a:t>
            </a:r>
            <a:br/>
            <a:r>
              <a:t>• Compilatiestraat: Archie Java Flattener + full_opt14_lxml.py (299 gevalideerde OPTs)</a:t>
            </a:r>
            <a:br/>
            <a:r>
              <a:t>• Exporteert contracten: sensii_openehr_contract.json &amp; carepaths_openehr_contract.json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3466"/>
                </a:solidFill>
              </a:defRPr>
            </a:pPr>
            <a:r>
              <a:t>LAAG 3: PRESENTATIE &amp; RUNTIME PERSISTENTIE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Live openEHR Inspector &amp; Data-Twin in Sensii Doorloop</a:t>
            </a:r>
            <a:br/>
            <a:r>
              <a:t>• Lens 6: openEHR Blueprint &amp; AQL Query Lab in Meta-Visualisaties</a:t>
            </a:r>
            <a:br/>
            <a:r>
              <a:t>• Runtime FLAT JSON Mapper &amp; REST client naar EHRbase CDR (/ehr/{ehr_id}/composition)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830C"/>
                </a:solidFill>
              </a:defRPr>
            </a:pPr>
            <a:r>
              <a:t>SENSIRE OPEN-EHR ARCHITECTUUR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466"/>
                </a:solidFill>
              </a:defRPr>
            </a:pPr>
            <a:r>
              <a:t>De 7 Custom Archetypes voor de Nederlandse Wijkverpleging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8830C"/>
          </a:solidFill>
          <a:ln>
            <a:solidFill>
              <a:srgbClr val="E88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078992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23466"/>
                </a:solidFill>
              </a:defRPr>
            </a:pPr>
            <a:r>
              <a:t>Groningen Frailty Indicator (GFI)  [OBSERVATION]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15 items over 4 domeinen (fysiek, cognitief, sociaal, psychisch), somscore 0-15, cutoff &gt;= 4 (SNOMED 225544003).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212080" cy="1078992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07792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23466"/>
                </a:solidFill>
              </a:defRPr>
            </a:pPr>
            <a:r>
              <a:t>Regietrede &amp; Zelfredzaamheid  [OBSERVATION]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Inschaling van 5 eigen regietreden met vergelijking motoradvies vs professional vs cliënt.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1078992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96512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23466"/>
                </a:solidFill>
              </a:defRPr>
            </a:pPr>
            <a:r>
              <a:t>Omaha System Probleem &amp; Zorgplan  [EVALUATION]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42 aandachtsgebieden over 4 domeinen, 4 actiesoorten, 76 actievlakken en KBS-streefscores (Kennis, Gedrag, Status).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12080"/>
            <a:ext cx="5212080" cy="1078992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85232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23466"/>
                </a:solidFill>
              </a:defRPr>
            </a:pPr>
            <a:r>
              <a:t>11 Gezondheidspatronen van Gordon  [OBSERVATION]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Gestructureerde functionele anamnese volgens de 11 verpleegkundige patronen van Marjory Gordon.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212080" cy="1078992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19072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23466"/>
                </a:solidFill>
              </a:defRPr>
            </a:pPr>
            <a:r>
              <a:t>Wijkverpleegkundige Triage  [EVALUATION]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Triagebesluit passendheid wijkverpleging, urgentiecategorie en relatietype (Langer Thuis).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834640"/>
            <a:ext cx="5212080" cy="1078992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907792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23466"/>
                </a:solidFill>
              </a:defRPr>
            </a:pPr>
            <a:r>
              <a:t>Verpleegkundig Adviesgesprek (VAG)  [EVALUATION]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Gestructureerde vastlegging van de hulpvraag, wenselijke situatie, persoonlijke kracht en mantelzorgbalans.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23360"/>
            <a:ext cx="5212080" cy="1078992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096512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23466"/>
                </a:solidFill>
              </a:defRPr>
            </a:pPr>
            <a:r>
              <a:t>Zorgfinanciering &amp; Leveringsvorm  [ADMIN_ENTRY]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Wettelijk kader (Zvw, Wlz, Wmo), leveringsvorm (ZIN, PGB, VPT, MPT) en geïndiceerde zorgminuten.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830C"/>
                </a:solidFill>
              </a:defRPr>
            </a:pPr>
            <a:r>
              <a:t>SENSIRE OPEN-EHR ARCHITECTUUR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466"/>
                </a:solidFill>
              </a:defRPr>
            </a:pPr>
            <a:r>
              <a:t>Compilatiestraat (Archie Java &amp; OPT 1.4) en 5-Staps Terminologiecascade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8830C"/>
          </a:solidFill>
          <a:ln>
            <a:solidFill>
              <a:srgbClr val="E88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23466"/>
                </a:solidFill>
              </a:defRPr>
            </a:pPr>
            <a:r>
              <a:t>⚙️ Geautomatiseerde Compilatiestraat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1. Bron ADLT Templates (templates/*.adlt)</a:t>
            </a:r>
            <a:br/>
            <a:r>
              <a:t>   Definieert RM-structuur, slots en verplichte velden.</a:t>
            </a:r>
            <a:br/>
            <a:br/>
            <a:r>
              <a:t>2. Nedap Archie Java Flattener</a:t>
            </a:r>
            <a:br/>
            <a:r>
              <a:t>   Valideert RM-regels, expandeert slots en genereert OPT.</a:t>
            </a:r>
            <a:br/>
            <a:br/>
            <a:r>
              <a:t>3. Python full_opt14_lxml.py Postprocessor</a:t>
            </a:r>
            <a:br/>
            <a:r>
              <a:t>   Injecteert xsi:type, corrigeert namespaces en valideert XML.</a:t>
            </a:r>
            <a:br/>
            <a:br/>
            <a:r>
              <a:t>4. Gevalideerde OPT 1.4 XML (opts/*.opt)</a:t>
            </a:r>
            <a:br/>
            <a:r>
              <a:t>   299 gecompileerde bestanden gereed voor EHRbase CDR.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EEF4FF"/>
          </a:solidFill>
          <a:ln>
            <a:solidFill>
              <a:srgbClr val="E88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23466"/>
                </a:solidFill>
              </a:defRPr>
            </a:pPr>
            <a:r>
              <a:t>📚 5-Staps Terminologiecascade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Strikte volgorde voor semantische binding:</a:t>
            </a:r>
            <a:br/>
            <a:br/>
            <a:r>
              <a:t>1. Nictiz ZIBs (Zorginformatiebouwstenen)</a:t>
            </a:r>
            <a:br/>
            <a:r>
              <a:t>   Primaire bron voor landelijke interoperabiliteit.</a:t>
            </a:r>
            <a:br/>
            <a:br/>
            <a:r>
              <a:t>2. SNOMED CT NL Editie</a:t>
            </a:r>
            <a:br/>
            <a:r>
              <a:t>   Internationale en Nederlandse klinische terminologie.</a:t>
            </a:r>
            <a:br/>
            <a:br/>
            <a:r>
              <a:t>3. openEHR CKM Terminology</a:t>
            </a:r>
            <a:br/>
            <a:r>
              <a:t>   Officiële archetype internal value-sets en bindings.</a:t>
            </a:r>
            <a:br/>
            <a:br/>
            <a:r>
              <a:t>4. V&amp;VN Richtlijnen &amp; Omaha System NL</a:t>
            </a:r>
            <a:br/>
            <a:r>
              <a:t>   Beroepsstandaarden voor de wijkverpleging.</a:t>
            </a:r>
            <a:br/>
            <a:br/>
            <a:r>
              <a:t>5. Zorgpad Fallback</a:t>
            </a:r>
            <a:br/>
            <a:r>
              <a:t>   Sensire-specifieke terminologie indien geen standaard.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830C"/>
                </a:solidFill>
              </a:defRPr>
            </a:pPr>
            <a:r>
              <a:t>SENSIRE OPEN-EHR ARCHITECTUUR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466"/>
                </a:solidFill>
              </a:defRPr>
            </a:pPr>
            <a:r>
              <a:t>Contract-First Data Distributie: Waarom Sensii en Zorgpaden Schoon Blijven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8830C"/>
          </a:solidFill>
          <a:ln>
            <a:solidFill>
              <a:srgbClr val="E88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23466"/>
                </a:solidFill>
              </a:defRPr>
            </a:pPr>
            <a:r>
              <a:t>📦 sensii_openehr_contract.json (39.5 KB)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Mapt alle 58 surveys op de 5 templates en 7 custom archetypes.</a:t>
            </a:r>
            <a:br/>
            <a:r>
              <a:t>• Bevat exacte RM node-paden (at00xx codes) voor elk formulier.</a:t>
            </a:r>
            <a:br/>
            <a:r>
              <a:t>• Bevat kant-en-klare AQL sample queries voor data-ontsluiting.</a:t>
            </a:r>
            <a:br/>
            <a:r>
              <a:t>• Bevat dynamische triggers tussen Omaha aandachtsgebieden en de 164 speciële zorgpaden (bijv. Huid ➔ Diabetische Voet).</a:t>
            </a:r>
            <a:br/>
            <a:r>
              <a:t>• Bevat SHA256 integriteits-checksum.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23466"/>
                </a:solidFill>
              </a:defRPr>
            </a:pPr>
            <a:r>
              <a:t>📦 carepaths_openehr_contract.json (293 paden)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Bevat het register van alle 164 zorgpaden (regulier &amp; ReAble).</a:t>
            </a:r>
            <a:br/>
            <a:r>
              <a:t>• Mapt elk zorgpad op zijn gecompileerde OPT 1.4 XML bestand.</a:t>
            </a:r>
            <a:br/>
            <a:r>
              <a:t>• Definieert de ReAble-status (inclusief ACTION.health_education en doel-tracking).</a:t>
            </a:r>
            <a:br/>
            <a:r>
              <a:t>• Dient als basis voor de niet-verstorende Fase 2 openEHR badge in de WebViewer.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830C"/>
                </a:solidFill>
              </a:defRPr>
            </a:pPr>
            <a:r>
              <a:t>SENSIRE OPEN-EHR ARCHITECTUUR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466"/>
                </a:solidFill>
              </a:defRPr>
            </a:pPr>
            <a:r>
              <a:t>Visualisatie &amp; Inspectie: Het Dual-Perspectief in de Praktijk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8830C"/>
          </a:solidFill>
          <a:ln>
            <a:solidFill>
              <a:srgbClr val="E88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23466"/>
                </a:solidFill>
              </a:defRPr>
            </a:pPr>
            <a:r>
              <a:t>👩‍⚕️ De Doorloop: Live openEHR Inspector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Klinische Weergave (Wijkverpleegkundige):</a:t>
            </a:r>
            <a:br/>
            <a:r>
              <a:t>  Rustig en herkenbaar cliëntdossier (Gordon, Omaha KBS, GFI, regietrede, indicatie).</a:t>
            </a:r>
            <a:br/>
            <a:br/>
            <a:r>
              <a:t>• openEHR Inspector (Technicus &amp; Architect):</a:t>
            </a:r>
            <a:br/>
            <a:r>
              <a:t>  Live data-twin met RM-klasse, archetype ID, live FLAT JSON payload fragment en de bijbehorende AQL-query.</a:t>
            </a:r>
            <a:br/>
            <a:br/>
            <a:r>
              <a:t>• Live Sync Pulse: Directe feedback over compositie-validatie.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23466"/>
                </a:solidFill>
              </a:defRPr>
            </a:pPr>
            <a:r>
              <a:t>🧬 Meta-Visualisaties: Lens 6 Blueprint &amp; Query Lab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Dekkingsgraad Dashboard:</a:t>
            </a:r>
            <a:br/>
            <a:r>
              <a:t>  100% dekking over 58 formulieren en 42 Omaha-gebieden.</a:t>
            </a:r>
            <a:br/>
            <a:br/>
            <a:r>
              <a:t>• Interactieve Template-Hiërarchie:</a:t>
            </a:r>
            <a:br/>
            <a:r>
              <a:t>  Visuele compositieboom (Mermaid/D3).</a:t>
            </a:r>
            <a:br/>
            <a:br/>
            <a:r>
              <a:t>• Live AQL Query Tester:</a:t>
            </a:r>
            <a:br/>
            <a:r>
              <a:t>  Interactieve query-editor waar analisten en IT direct queries kunnen uitvoeren op voorbeeld-dossiers.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830C"/>
                </a:solidFill>
              </a:defRPr>
            </a:pPr>
            <a:r>
              <a:t>SENSIRE OPEN-EHR ARCHITECTUUR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466"/>
                </a:solidFill>
              </a:defRPr>
            </a:pPr>
            <a:r>
              <a:t>Runtime Roadmap: 4 Stappen om Live naar EHRbase CDR te Schrijven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8830C"/>
          </a:solidFill>
          <a:ln>
            <a:solidFill>
              <a:srgbClr val="E88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23466"/>
                </a:solidFill>
              </a:defRPr>
            </a:pPr>
            <a:r>
              <a:t>1. EHRbase Server &amp; OPT Upload</a:t>
            </a:r>
          </a:p>
          <a:p>
            <a:pPr>
              <a:defRPr sz="1150">
                <a:solidFill>
                  <a:srgbClr val="212529"/>
                </a:solidFill>
              </a:defRPr>
            </a:pPr>
            <a:r>
              <a:t>EHRbase instance (Docker/K8s + PostgreSQL) inrichten. De 5 OPT 1.4 XML bestanden eenmalig registreren via POST /rest/openehr/v1/definition/template/adl1.4.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0779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23466"/>
                </a:solidFill>
              </a:defRPr>
            </a:pPr>
            <a:r>
              <a:t>2. WebTemplate FLAT JSON Mapper</a:t>
            </a:r>
          </a:p>
          <a:p>
            <a:pPr>
              <a:defRPr sz="1150">
                <a:solidFill>
                  <a:srgbClr val="212529"/>
                </a:solidFill>
              </a:defRPr>
            </a:pPr>
            <a:r>
              <a:t>Lichtgewicht Python helper (sensii_openehr_mapper.py) in Sensii backend die formulier-antwoorden omzet naar Simplified FLAT JSON formaat.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9651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23466"/>
                </a:solidFill>
              </a:defRPr>
            </a:pPr>
            <a:r>
              <a:t>3. EHRbase REST API Client</a:t>
            </a:r>
          </a:p>
          <a:p>
            <a:pPr>
              <a:defRPr sz="1150">
                <a:solidFill>
                  <a:srgbClr val="212529"/>
                </a:solidFill>
              </a:defRPr>
            </a:pPr>
            <a:r>
              <a:t>HTTP POST client die de payload verzendt naar /ehr/{ehr_id}/composition met template-id header en OAuth2 Bearer token.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8523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23466"/>
                </a:solidFill>
              </a:defRPr>
            </a:pPr>
            <a:r>
              <a:t>4. Audit, Versioning &amp; AQL</a:t>
            </a:r>
          </a:p>
          <a:p>
            <a:pPr>
              <a:defRPr sz="1150">
                <a:solidFill>
                  <a:srgbClr val="212529"/>
                </a:solidFill>
              </a:defRPr>
            </a:pPr>
            <a:r>
              <a:t>EHRbase valideert tegen de OPT, slaat onveranderlijk op met ObjectVersionID en stelt data direct beschikbaar voor realtime AQL bevraging.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830C"/>
                </a:solidFill>
              </a:defRPr>
            </a:pPr>
            <a:r>
              <a:t>SENSIRE OPEN-EHR ARCHITECTUUR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466"/>
                </a:solidFill>
              </a:defRPr>
            </a:pPr>
            <a:r>
              <a:t>Adoptiestrategie Speciële Beslisondersteuning: Fase 2 Passieve Schaduw-Adapter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8830C"/>
          </a:solidFill>
          <a:ln>
            <a:solidFill>
              <a:srgbClr val="E88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3466"/>
                </a:solidFill>
              </a:defRPr>
            </a:pPr>
            <a:r>
              <a:t>FASE 1: ZERO-TOUCH (Actueel)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Redacteurs blijven 100% werken zoals nu (Markdown/Mermaids/JSON).</a:t>
            </a:r>
            <a:br/>
            <a:r>
              <a:t>• OpenEHRDemo genereert de openEHR templates volledig autonoom op de achtergrond.</a:t>
            </a:r>
            <a:br/>
            <a:r>
              <a:t>• Geen enkele verstoring van het dagelijkse zorgpaden-onderhoud.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EEF4FF"/>
          </a:solidFill>
          <a:ln>
            <a:solidFill>
              <a:srgbClr val="E88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3466"/>
                </a:solidFill>
              </a:defRPr>
            </a:pPr>
            <a:r>
              <a:t>FASE 2: PASSIEVE INFORMATIEVE BADGE (Aanbevolen Stap)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In de WebViewer verschijnt een subtiele badge: [ 🧬 openEHR Template Beschikbaar ].</a:t>
            </a:r>
            <a:br/>
            <a:r>
              <a:t>• Klikken opent een inspectie-popup met template-ID, archetypes en AQL snippet.</a:t>
            </a:r>
            <a:br/>
            <a:r>
              <a:t>• Volledig optioneel en niet-blokkerend voor redacteurs.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3466"/>
                </a:solidFill>
              </a:defRPr>
            </a:pPr>
            <a:r>
              <a:t>FASE 3: OPT-IN AI ASSISTENT (Toekomst)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Vrijwillige AI-assistent die bij het toevoegen van een nieuwe zorgpadstap suggesties doet voor Omaha-actievlakken of SNOMED-termen.</a:t>
            </a:r>
            <a:br/>
            <a:r>
              <a:t>• Altijd adviserend, nooit dwingend.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830C"/>
                </a:solidFill>
              </a:defRPr>
            </a:pPr>
            <a:r>
              <a:t>SENSIRE OPEN-EHR ARCHITECTUUR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3466"/>
                </a:solidFill>
              </a:defRPr>
            </a:pPr>
            <a:r>
              <a:t>Conclusie &amp; Voorgestelde Besluiten voor het Architectuurboard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8830C"/>
          </a:solidFill>
          <a:ln>
            <a:solidFill>
              <a:srgbClr val="E88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8830C"/>
                </a:solidFill>
              </a:defRPr>
            </a:pPr>
            <a:r>
              <a:t>1. Goedkeuring Ecosysteem Architectuur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Het 3-lagenmodel met contract-first scheiding tussen Semantische Fabriek (OpenEHRDemo) en consumenten-applicaties (Sensii en Speciële Beslisondersteuning) vaststellen als Sensire enterprise standaard.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8830C"/>
                </a:solidFill>
              </a:defRPr>
            </a:pPr>
            <a:r>
              <a:t>2. Goedkeuring Fase 2 in Speciële Beslisondersteuning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Inrichten van de passieve, niet-verstorende openEHR inspectie-badge in de WebViewer conform het geleverde JSON-contract.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8830C"/>
                </a:solidFill>
              </a:defRPr>
            </a:pPr>
            <a:r>
              <a:t>3. Goedkeuring Runtime Pilot EHRbase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Starten van een gecontroleerde pilot om de Sensii Doorloop via FLAT JSON composities live weg te schrijven naar een dedicated EHRbase CDR instance.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